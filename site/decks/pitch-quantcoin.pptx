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QuantCoin is a Solana token whose treasury, team and reserve balances sit in a vault that needs two signatures to open. One is the normal Ed25519 signature. The other is a hash-based signature that a quantum computer cannot forge. It is on devnet and it has not had an external audit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about today's wallets being hacked tomorrow. It is about money meant to sit still for decades. Its public key is already public. The day the machine exists, that key is the only 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Hash-based signatures are the oldest and most conservative post-quantum family. Once NIST put its name on them, using the same idea on Solana stopped being exotic.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attacker has to break both. Before quantum computers exist, Ed25519 also covers any bug in the newer Winternitz code. After, the hash half still holds. Everyday transfers stay plain Token-2022, so wallets need nothing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supply moving. One million out to a destination, the rest into the owner's next vault, and the old vault closed. It used about six hundred thousand compute units, well under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state means nothing to corrupt. The address itself commits to the keys. Program, vault, mint, destination, refund and amount are all inside the signed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be straight about this. The signal is engineering, not users. The audit found a test that passed for the wrong reason and a client bug that could lock a vault. Both are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wallets are not the start. The first users are people who already think in decades: treasuries and long vesting. The Codama client means a wallet can add vault support with one generated instruction. I have not signed any of these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one person today. That is the main risk, and the reason the external audit comes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simple. An outside audit of a program under seven kilobytes. Then mainnet, and the upgrade key thrown away, because any Ed25519 key left behind would undo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1524000" y="1803654"/>
            <a:ext cx="9144000" cy="2668524"/>
          </a:xfrm>
          <a:prstGeom prst="rect">
            <a:avLst/>
          </a:prstGeom>
          <a:noFill/>
          <a:ln/>
        </p:spPr>
        <p:txBody>
          <a:bodyPr wrap="square" lIns="0" tIns="0" rIns="0" bIns="0" rtlCol="0" anchor="t"/>
          <a:lstStyle/>
          <a:p>
            <a:pPr algn="ctr" indent="0" marL="0">
              <a:lnSpc>
                <a:spcPct val="105000"/>
              </a:lnSpc>
              <a:buNone/>
            </a:pPr>
            <a:r>
              <a:rPr lang="en-US" sz="5400" b="1" dirty="0">
                <a:solidFill>
                  <a:srgbClr val="15161A"/>
                </a:solidFill>
                <a:latin typeface="Inter" pitchFamily="34" charset="0"/>
                <a:ea typeface="Inter" pitchFamily="34" charset="-122"/>
                <a:cs typeface="Inter" pitchFamily="34" charset="-120"/>
              </a:rPr>
              <a:t>QuantCoin keeps long-held Solana tokens safe from a quantum computer</a:t>
            </a:r>
            <a:endParaRPr lang="en-US" sz="5400" dirty="0"/>
          </a:p>
        </p:txBody>
      </p:sp>
      <p:sp>
        <p:nvSpPr>
          <p:cNvPr id="4" name="Text 1"/>
          <p:cNvSpPr/>
          <p:nvPr/>
        </p:nvSpPr>
        <p:spPr>
          <a:xfrm>
            <a:off x="1524000" y="4567428"/>
            <a:ext cx="9144000" cy="391668"/>
          </a:xfrm>
          <a:prstGeom prst="rect">
            <a:avLst/>
          </a:prstGeom>
          <a:noFill/>
          <a:ln/>
        </p:spPr>
        <p:txBody>
          <a:bodyPr wrap="square" lIns="0" tIns="0" rIns="0" bIns="0" rtlCol="0" anchor="t"/>
          <a:lstStyle/>
          <a:p>
            <a:pPr algn="ctr" indent="0" marL="0">
              <a:lnSpc>
                <a:spcPct val="115000"/>
              </a:lnSpc>
              <a:buNone/>
            </a:pPr>
            <a:r>
              <a:rPr lang="en-US" sz="1800" dirty="0">
                <a:solidFill>
                  <a:srgbClr val="6B6E76"/>
                </a:solidFill>
                <a:latin typeface="Inter" pitchFamily="34" charset="0"/>
                <a:ea typeface="Inter" pitchFamily="34" charset="-122"/>
                <a:cs typeface="Inter" pitchFamily="34" charset="-120"/>
              </a:rPr>
              <a:t>A Token-2022 token with a hybrid vault · Bryan Kwandou · devnet, pre-audit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PROBLEM</a:t>
            </a:r>
            <a:endParaRPr lang="en-US" sz="1100" dirty="0"/>
          </a:p>
        </p:txBody>
      </p:sp>
      <p:sp>
        <p:nvSpPr>
          <p:cNvPr id="4" name="Text 1"/>
          <p:cNvSpPr/>
          <p:nvPr/>
        </p:nvSpPr>
        <p:spPr>
          <a:xfrm>
            <a:off x="609600" y="914400"/>
            <a:ext cx="6236208" cy="2490216"/>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Every Solana balance rests on one signature a quantum computer can forge</a:t>
            </a:r>
            <a:endParaRPr lang="en-US" sz="3600" dirty="0"/>
          </a:p>
        </p:txBody>
      </p:sp>
      <p:sp>
        <p:nvSpPr>
          <p:cNvPr id="5" name="Text 2"/>
          <p:cNvSpPr/>
          <p:nvPr/>
        </p:nvSpPr>
        <p:spPr>
          <a:xfrm>
            <a:off x="609600" y="4147947"/>
            <a:ext cx="6305550" cy="1338072"/>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Shor's algorithm recovers an Ed25519 private key from its public key. Public keys are on-chain today, so a treasury meant to sit for twenty years can be harvested now and drained later.</a:t>
            </a:r>
            <a:endParaRPr lang="en-US" sz="1800" dirty="0"/>
          </a:p>
        </p:txBody>
      </p:sp>
      <p:sp>
        <p:nvSpPr>
          <p:cNvPr id="6" name="Shape 3"/>
          <p:cNvSpPr/>
          <p:nvPr/>
        </p:nvSpPr>
        <p:spPr>
          <a:xfrm>
            <a:off x="7143750" y="4234148"/>
            <a:ext cx="4438650" cy="1165670"/>
          </a:xfrm>
          <a:prstGeom prst="roundRect">
            <a:avLst>
              <a:gd name="adj" fmla="val 9413"/>
            </a:avLst>
          </a:prstGeom>
          <a:solidFill>
            <a:srgbClr val="F1F0EA"/>
          </a:solidFill>
          <a:ln w="9525">
            <a:solidFill>
              <a:srgbClr val="E4E3DD"/>
            </a:solidFill>
            <a:prstDash val="solid"/>
          </a:ln>
        </p:spPr>
      </p:sp>
      <p:sp>
        <p:nvSpPr>
          <p:cNvPr id="7" name="Text 4"/>
          <p:cNvSpPr/>
          <p:nvPr/>
        </p:nvSpPr>
        <p:spPr>
          <a:xfrm>
            <a:off x="7353300" y="4443698"/>
            <a:ext cx="4019550" cy="746570"/>
          </a:xfrm>
          <a:prstGeom prst="rect">
            <a:avLst/>
          </a:prstGeom>
          <a:noFill/>
          <a:ln/>
        </p:spPr>
        <p:txBody>
          <a:bodyPr wrap="square" lIns="0" tIns="0" rIns="0" bIns="0" rtlCol="0" anchor="t"/>
          <a:lstStyle/>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owner: Ed25519 only</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public key: on-chain</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protection after Shor: none</a:t>
            </a:r>
            <a:endParaRPr lang="en-US" sz="1300" dirty="0"/>
          </a:p>
        </p:txBody>
      </p:sp>
      <p:sp>
        <p:nvSpPr>
          <p:cNvPr id="8" name="Text 5"/>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whitepaper, section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WHY NOW</a:t>
            </a:r>
            <a:endParaRPr lang="en-US" sz="1100" dirty="0"/>
          </a:p>
        </p:txBody>
      </p:sp>
      <p:sp>
        <p:nvSpPr>
          <p:cNvPr id="4" name="Text 1"/>
          <p:cNvSpPr/>
          <p:nvPr/>
        </p:nvSpPr>
        <p:spPr>
          <a:xfrm>
            <a:off x="609600" y="914400"/>
            <a:ext cx="6236208" cy="1283208"/>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NIST standardized hash-based signatures in 2024</a:t>
            </a:r>
            <a:endParaRPr lang="en-US" sz="3600" dirty="0"/>
          </a:p>
        </p:txBody>
      </p:sp>
      <p:sp>
        <p:nvSpPr>
          <p:cNvPr id="5" name="Text 2"/>
          <p:cNvSpPr/>
          <p:nvPr/>
        </p:nvSpPr>
        <p:spPr>
          <a:xfrm>
            <a:off x="609600" y="2578608"/>
            <a:ext cx="4438650" cy="3985260"/>
          </a:xfrm>
          <a:prstGeom prst="rect">
            <a:avLst/>
          </a:prstGeom>
          <a:noFill/>
          <a:ln/>
        </p:spPr>
        <p:txBody>
          <a:bodyPr wrap="square" lIns="0" tIns="0" rIns="0" bIns="0" rtlCol="0" anchor="t"/>
          <a:lstStyle/>
          <a:p>
            <a:pPr algn="l" indent="0" marL="0">
              <a:lnSpc>
                <a:spcPct val="95000"/>
              </a:lnSpc>
              <a:buNone/>
            </a:pPr>
            <a:r>
              <a:rPr lang="en-US" sz="13500" b="1" dirty="0">
                <a:solidFill>
                  <a:srgbClr val="2F5BEA"/>
                </a:solidFill>
                <a:latin typeface="Inter" pitchFamily="34" charset="0"/>
                <a:ea typeface="Inter" pitchFamily="34" charset="-122"/>
                <a:cs typeface="Inter" pitchFamily="34" charset="-120"/>
              </a:rPr>
              <a:t>FIPS 205</a:t>
            </a:r>
            <a:endParaRPr lang="en-US" sz="13500" dirty="0"/>
          </a:p>
        </p:txBody>
      </p:sp>
      <p:sp>
        <p:nvSpPr>
          <p:cNvPr id="6" name="Text 3"/>
          <p:cNvSpPr/>
          <p:nvPr/>
        </p:nvSpPr>
        <p:spPr>
          <a:xfrm>
            <a:off x="5276850" y="3902202"/>
            <a:ext cx="6305550" cy="1338072"/>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SLH-DSA rests only on a hash function. Grover's algorithm gives a square-root speedup against it, nothing more. The conservative choice now has a standard behind it.</a:t>
            </a:r>
            <a:endParaRPr lang="en-US" sz="1800" dirty="0"/>
          </a:p>
        </p:txBody>
      </p:sp>
      <p:sp>
        <p:nvSpPr>
          <p:cNvPr id="7" name="Text 4"/>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NIST FIPS 205, August 2024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PRODUCT</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A vault opens only when both signatures check out</a:t>
            </a:r>
            <a:endParaRPr lang="en-US" sz="3600" dirty="0"/>
          </a:p>
        </p:txBody>
      </p:sp>
      <p:sp>
        <p:nvSpPr>
          <p:cNvPr id="5" name="Text 2"/>
          <p:cNvSpPr/>
          <p:nvPr/>
        </p:nvSpPr>
        <p:spPr>
          <a:xfrm>
            <a:off x="609600" y="3144012"/>
            <a:ext cx="5295900" cy="2514600"/>
          </a:xfrm>
          <a:prstGeom prst="rect">
            <a:avLst/>
          </a:prstGeom>
          <a:noFill/>
          <a:ln/>
        </p:spPr>
        <p:txBody>
          <a:bodyPr wrap="square" lIns="0" tIns="0" rIns="0" bIns="0" rtlCol="0" anchor="t"/>
          <a:lstStyle/>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Ed25519 from the owner, as in any Solana wallet</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A Winternitz one-time signature over SHA-256</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Every spend empties the vault, so no key signs twice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DEMO</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One devnet spend moved 22 trillion QC between vaults</a:t>
            </a:r>
            <a:endParaRPr lang="en-US" sz="3600" dirty="0"/>
          </a:p>
        </p:txBody>
      </p:sp>
      <p:sp>
        <p:nvSpPr>
          <p:cNvPr id="5" name="Shape 2"/>
          <p:cNvSpPr/>
          <p:nvPr/>
        </p:nvSpPr>
        <p:spPr>
          <a:xfrm>
            <a:off x="609600" y="3708940"/>
            <a:ext cx="5372100" cy="1612583"/>
          </a:xfrm>
          <a:prstGeom prst="roundRect">
            <a:avLst>
              <a:gd name="adj" fmla="val 6804"/>
            </a:avLst>
          </a:prstGeom>
          <a:solidFill>
            <a:srgbClr val="F1F0EA"/>
          </a:solidFill>
          <a:ln w="9525">
            <a:solidFill>
              <a:srgbClr val="E4E3DD"/>
            </a:solidFill>
            <a:prstDash val="solid"/>
          </a:ln>
        </p:spPr>
      </p:sp>
      <p:sp>
        <p:nvSpPr>
          <p:cNvPr id="6" name="Text 3"/>
          <p:cNvSpPr/>
          <p:nvPr/>
        </p:nvSpPr>
        <p:spPr>
          <a:xfrm>
            <a:off x="819150" y="3918490"/>
            <a:ext cx="4953000" cy="1193482"/>
          </a:xfrm>
          <a:prstGeom prst="rect">
            <a:avLst/>
          </a:prstGeom>
          <a:noFill/>
          <a:ln/>
        </p:spPr>
        <p:txBody>
          <a:bodyPr wrap="square" lIns="0" tIns="0" rIns="0" bIns="0" rtlCol="0" anchor="t"/>
          <a:lstStyle/>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spend Np26Uxfw…</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sent 1,000,000 QC</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refunded 21,999,999,000,000 QC</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old vault closed</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compute 610,076 CU</a:t>
            </a:r>
            <a:endParaRPr lang="en-US" sz="1300" dirty="0"/>
          </a:p>
        </p:txBody>
      </p:sp>
      <p:sp>
        <p:nvSpPr>
          <p:cNvPr id="7" name="Text 4"/>
          <p:cNvSpPr/>
          <p:nvPr/>
        </p:nvSpPr>
        <p:spPr>
          <a:xfrm>
            <a:off x="6210300" y="4003929"/>
            <a:ext cx="5372100" cy="1022604"/>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The TypeScript client signed, the Rust program verified. The two WOTS implementations agree byte for byte.</a:t>
            </a:r>
            <a:endParaRPr lang="en-US" sz="1800" dirty="0"/>
          </a:p>
        </p:txBody>
      </p:sp>
      <p:sp>
        <p:nvSpPr>
          <p:cNvPr id="8" name="Text 5"/>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README, devnet run 2026-09-23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HOW IT WORKS</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The program stores nothing and fits in 6,872 bytes</a:t>
            </a:r>
            <a:endParaRPr lang="en-US" sz="3600" dirty="0"/>
          </a:p>
        </p:txBody>
      </p:sp>
      <p:sp>
        <p:nvSpPr>
          <p:cNvPr id="5" name="Text 2"/>
          <p:cNvSpPr/>
          <p:nvPr/>
        </p:nvSpPr>
        <p:spPr>
          <a:xfrm>
            <a:off x="609600" y="3182112"/>
            <a:ext cx="4438650" cy="3985260"/>
          </a:xfrm>
          <a:prstGeom prst="rect">
            <a:avLst/>
          </a:prstGeom>
          <a:noFill/>
          <a:ln/>
        </p:spPr>
        <p:txBody>
          <a:bodyPr wrap="square" lIns="0" tIns="0" rIns="0" bIns="0" rtlCol="0" anchor="t"/>
          <a:lstStyle/>
          <a:p>
            <a:pPr algn="l" indent="0" marL="0">
              <a:lnSpc>
                <a:spcPct val="95000"/>
              </a:lnSpc>
              <a:buNone/>
            </a:pPr>
            <a:r>
              <a:rPr lang="en-US" sz="13500" b="1" dirty="0">
                <a:solidFill>
                  <a:srgbClr val="2F5BEA"/>
                </a:solidFill>
                <a:latin typeface="Inter" pitchFamily="34" charset="0"/>
                <a:ea typeface="Inter" pitchFamily="34" charset="-122"/>
                <a:cs typeface="Inter" pitchFamily="34" charset="-120"/>
              </a:rPr>
              <a:t>6,872 B</a:t>
            </a:r>
            <a:endParaRPr lang="en-US" sz="13500" dirty="0"/>
          </a:p>
        </p:txBody>
      </p:sp>
      <p:sp>
        <p:nvSpPr>
          <p:cNvPr id="6" name="Text 3"/>
          <p:cNvSpPr/>
          <p:nvPr/>
        </p:nvSpPr>
        <p:spPr>
          <a:xfrm>
            <a:off x="5276850" y="4505706"/>
            <a:ext cx="6305550" cy="1338072"/>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Pinocchio, one instruction. The vault address is derived from the Winternitz key and the owner. The signed message binds every account, so a relayer cannot redirect funds.</a:t>
            </a:r>
            <a:endParaRPr lang="en-US" sz="1800" dirty="0"/>
          </a:p>
        </p:txBody>
      </p:sp>
      <p:sp>
        <p:nvSpPr>
          <p:cNvPr id="7" name="Text 4"/>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README, measured numbers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TRACTION</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Twelve tests pass and an internal audit found no way in</a:t>
            </a:r>
            <a:endParaRPr lang="en-US" sz="3600" dirty="0"/>
          </a:p>
        </p:txBody>
      </p:sp>
      <p:sp>
        <p:nvSpPr>
          <p:cNvPr id="5" name="Text 2"/>
          <p:cNvSpPr/>
          <p:nvPr/>
        </p:nvSpPr>
        <p:spPr>
          <a:xfrm>
            <a:off x="609600" y="3182112"/>
            <a:ext cx="4438650" cy="3985260"/>
          </a:xfrm>
          <a:prstGeom prst="rect">
            <a:avLst/>
          </a:prstGeom>
          <a:noFill/>
          <a:ln/>
        </p:spPr>
        <p:txBody>
          <a:bodyPr wrap="square" lIns="0" tIns="0" rIns="0" bIns="0" rtlCol="0" anchor="t"/>
          <a:lstStyle/>
          <a:p>
            <a:pPr algn="l" indent="0" marL="0">
              <a:lnSpc>
                <a:spcPct val="95000"/>
              </a:lnSpc>
              <a:buNone/>
            </a:pPr>
            <a:r>
              <a:rPr lang="en-US" sz="13500" b="1" dirty="0">
                <a:solidFill>
                  <a:srgbClr val="2F5BEA"/>
                </a:solidFill>
                <a:latin typeface="Inter" pitchFamily="34" charset="0"/>
                <a:ea typeface="Inter" pitchFamily="34" charset="-122"/>
                <a:cs typeface="Inter" pitchFamily="34" charset="-120"/>
              </a:rPr>
              <a:t>12/12</a:t>
            </a:r>
            <a:endParaRPr lang="en-US" sz="13500" dirty="0"/>
          </a:p>
        </p:txBody>
      </p:sp>
      <p:sp>
        <p:nvSpPr>
          <p:cNvPr id="6" name="Text 3"/>
          <p:cNvSpPr/>
          <p:nvPr/>
        </p:nvSpPr>
        <p:spPr>
          <a:xfrm>
            <a:off x="5276850" y="4663440"/>
            <a:ext cx="6305550" cy="1022604"/>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Tests run against real Token-2022 and assert exact error codes. The internal audit fixed two issues and left five documented. There are no users yet.</a:t>
            </a:r>
            <a:endParaRPr lang="en-US" sz="1800" dirty="0"/>
          </a:p>
        </p:txBody>
      </p:sp>
      <p:sp>
        <p:nvSpPr>
          <p:cNvPr id="7" name="Text 4"/>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audit/AUDIT.md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GO-TO-MARKET</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The first users are treasuries that plan to hold for years</a:t>
            </a:r>
            <a:endParaRPr lang="en-US" sz="3600" dirty="0"/>
          </a:p>
        </p:txBody>
      </p:sp>
      <p:sp>
        <p:nvSpPr>
          <p:cNvPr id="5" name="Text 2"/>
          <p:cNvSpPr/>
          <p:nvPr/>
        </p:nvSpPr>
        <p:spPr>
          <a:xfrm>
            <a:off x="609600" y="3144012"/>
            <a:ext cx="5295900" cy="2181225"/>
          </a:xfrm>
          <a:prstGeom prst="rect">
            <a:avLst/>
          </a:prstGeom>
          <a:noFill/>
          <a:ln/>
        </p:spPr>
        <p:txBody>
          <a:bodyPr wrap="square" lIns="0" tIns="0" rIns="0" bIns="0" rtlCol="0" anchor="t"/>
          <a:lstStyle/>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DAO and foundation treasuries on Solana</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Team and investor vesting that runs for years</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Wallets that add one Codama-generated instruction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TEAM</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One builder wrote the program, the client and the audit trail</a:t>
            </a:r>
            <a:endParaRPr lang="en-US" sz="3600" dirty="0"/>
          </a:p>
        </p:txBody>
      </p:sp>
      <p:sp>
        <p:nvSpPr>
          <p:cNvPr id="5" name="Text 2"/>
          <p:cNvSpPr/>
          <p:nvPr/>
        </p:nvSpPr>
        <p:spPr>
          <a:xfrm>
            <a:off x="609600" y="2896362"/>
            <a:ext cx="5029200" cy="1338072"/>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Bryan Kwandou built the Pinocchio vault, the TypeScript WOTS client, the Codama IDL and the internal audit. The next hire is a reviewer who did not write the code.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1524000" y="2160842"/>
            <a:ext cx="9144000" cy="260223"/>
          </a:xfrm>
          <a:prstGeom prst="rect">
            <a:avLst/>
          </a:prstGeom>
          <a:noFill/>
          <a:ln/>
        </p:spPr>
        <p:txBody>
          <a:bodyPr wrap="square" lIns="0" tIns="0" rIns="0" bIns="0" rtlCol="0" anchor="t"/>
          <a:lstStyle/>
          <a:p>
            <a:pPr algn="ctr" indent="0" marL="0">
              <a:lnSpc>
                <a:spcPct val="115000"/>
              </a:lnSpc>
              <a:buNone/>
            </a:pPr>
            <a:r>
              <a:rPr lang="en-US" sz="1100" b="1" dirty="0">
                <a:solidFill>
                  <a:srgbClr val="6B6E76"/>
                </a:solidFill>
                <a:latin typeface="Inter" pitchFamily="34" charset="0"/>
                <a:ea typeface="Inter" pitchFamily="34" charset="-122"/>
                <a:cs typeface="Inter" pitchFamily="34" charset="-120"/>
              </a:rPr>
              <a:t>ASK</a:t>
            </a:r>
            <a:endParaRPr lang="en-US" sz="1100" dirty="0"/>
          </a:p>
        </p:txBody>
      </p:sp>
      <p:sp>
        <p:nvSpPr>
          <p:cNvPr id="4" name="Text 1"/>
          <p:cNvSpPr/>
          <p:nvPr/>
        </p:nvSpPr>
        <p:spPr>
          <a:xfrm>
            <a:off x="1524000" y="2516315"/>
            <a:ext cx="9144000" cy="1283208"/>
          </a:xfrm>
          <a:prstGeom prst="rect">
            <a:avLst/>
          </a:prstGeom>
          <a:noFill/>
          <a:ln/>
        </p:spPr>
        <p:txBody>
          <a:bodyPr wrap="square" lIns="0" tIns="0" rIns="0" bIns="0" rtlCol="0" anchor="t"/>
          <a:lstStyle/>
          <a:p>
            <a:pPr algn="ctr" indent="0" marL="0">
              <a:lnSpc>
                <a:spcPct val="110000"/>
              </a:lnSpc>
              <a:buNone/>
            </a:pPr>
            <a:r>
              <a:rPr lang="en-US" sz="3600" b="1" dirty="0">
                <a:solidFill>
                  <a:srgbClr val="15161A"/>
                </a:solidFill>
                <a:latin typeface="Inter" pitchFamily="34" charset="0"/>
                <a:ea typeface="Inter" pitchFamily="34" charset="-122"/>
                <a:cs typeface="Inter" pitchFamily="34" charset="-120"/>
              </a:rPr>
              <a:t>Fund an external audit, then lock the program for good</a:t>
            </a:r>
            <a:endParaRPr lang="en-US" sz="3600" dirty="0"/>
          </a:p>
        </p:txBody>
      </p:sp>
      <p:sp>
        <p:nvSpPr>
          <p:cNvPr id="5" name="Text 2"/>
          <p:cNvSpPr/>
          <p:nvPr/>
        </p:nvSpPr>
        <p:spPr>
          <a:xfrm>
            <a:off x="1524000" y="3894772"/>
            <a:ext cx="9144000" cy="707136"/>
          </a:xfrm>
          <a:prstGeom prst="rect">
            <a:avLst/>
          </a:prstGeom>
          <a:noFill/>
          <a:ln/>
        </p:spPr>
        <p:txBody>
          <a:bodyPr wrap="square" lIns="0" tIns="0" rIns="0" bIns="0" rtlCol="0" anchor="t"/>
          <a:lstStyle/>
          <a:p>
            <a:pPr algn="ctr" indent="0" marL="0">
              <a:lnSpc>
                <a:spcPct val="115000"/>
              </a:lnSpc>
              <a:buNone/>
            </a:pPr>
            <a:r>
              <a:rPr lang="en-US" sz="1800" dirty="0">
                <a:solidFill>
                  <a:srgbClr val="6B6E76"/>
                </a:solidFill>
                <a:latin typeface="Inter" pitchFamily="34" charset="0"/>
                <a:ea typeface="Inter" pitchFamily="34" charset="-122"/>
                <a:cs typeface="Inter" pitchFamily="34" charset="-120"/>
              </a:rPr>
              <a:t>After the audit: deploy to mainnet and set the upgrade authority to final, because that key is an Ed25519 backdoor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QuantCoin pitch</dc:title>
  <dc:subject>PptxGenJS Presentation</dc:subject>
  <dc:creator>PptxGenJS</dc:creator>
  <cp:lastModifiedBy>PptxGenJS</cp:lastModifiedBy>
  <cp:revision>1</cp:revision>
  <dcterms:created xsi:type="dcterms:W3CDTF">2026-09-25T15:40:43Z</dcterms:created>
  <dcterms:modified xsi:type="dcterms:W3CDTF">2026-09-25T15:40:43Z</dcterms:modified>
</cp:coreProperties>
</file>