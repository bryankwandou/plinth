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pulled every Solana hackathon project Colosseum has indexed and compared the winners with everyone else. The short version: the things people polish are not the things that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odds. About five percent. Which means the judge watching your video has already seen dozens that look like it, and decides in the first minute whether to keep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expected shorter, punchier one-liners from winners. The median is identical, thirteen words. And the buzzword rate is the same four percent. So polishing the tagline is not where the prize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gap that did show up is presence. Ninety-six percent of winners link an account where they post progress, versus eighty percent of the rest. It is a proxy, not proof, but it lines up with what Colosseum tells people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Colosseum publishes the checklist: team background, product, why you started, market, how you get first users, and the demo. I grouped them into three pairs. Running over three minutes is on their list of top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I would put above every desk during submission week. A voiceover over clean slides is enough. The story has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 these do. A category noun, then the specific job, then the detail that makes it different. Nobody is revolutionizing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Colosseum suggests roughly four weeks of engineering and one on the presentation. Use that week to get the spine right, then build slides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finding. Everyone submits a deck. The ones that win make a clearer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1448181"/>
            <a:ext cx="9144000" cy="260223"/>
          </a:xfrm>
          <a:prstGeom prst="rect">
            <a:avLst/>
          </a:prstGeom>
          <a:noFill/>
          <a:ln/>
        </p:spPr>
        <p:txBody>
          <a:bodyPr wrap="square" lIns="0" tIns="0" rIns="0" bIns="0" rtlCol="0" anchor="t"/>
          <a:lstStyle/>
          <a:p>
            <a:pPr algn="ctr" indent="0" marL="0">
              <a:lnSpc>
                <a:spcPct val="115000"/>
              </a:lnSpc>
              <a:buNone/>
            </a:pPr>
            <a:r>
              <a:rPr lang="en-US" sz="1100" b="1" dirty="0">
                <a:solidFill>
                  <a:srgbClr val="6B6E76"/>
                </a:solidFill>
                <a:latin typeface="Inter" pitchFamily="34" charset="0"/>
                <a:ea typeface="Inter" pitchFamily="34" charset="-122"/>
                <a:cs typeface="Inter" pitchFamily="34" charset="-120"/>
              </a:rPr>
              <a:t>PLINTH RESEARCH NOTE · SEPTEMBER 2026</a:t>
            </a:r>
            <a:endParaRPr lang="en-US" sz="1100" dirty="0"/>
          </a:p>
        </p:txBody>
      </p:sp>
      <p:sp>
        <p:nvSpPr>
          <p:cNvPr id="4" name="Text 1"/>
          <p:cNvSpPr/>
          <p:nvPr/>
        </p:nvSpPr>
        <p:spPr>
          <a:xfrm>
            <a:off x="1524000" y="1803654"/>
            <a:ext cx="9144000" cy="2668524"/>
          </a:xfrm>
          <a:prstGeom prst="rect">
            <a:avLst/>
          </a:prstGeom>
          <a:noFill/>
          <a:ln/>
        </p:spPr>
        <p:txBody>
          <a:bodyPr wrap="square" lIns="0" tIns="0" rIns="0" bIns="0" rtlCol="0" anchor="t"/>
          <a:lstStyle/>
          <a:p>
            <a:pPr algn="ctr" indent="0" marL="0">
              <a:lnSpc>
                <a:spcPct val="105000"/>
              </a:lnSpc>
              <a:buNone/>
            </a:pPr>
            <a:r>
              <a:rPr lang="en-US" sz="5400" b="1" dirty="0">
                <a:solidFill>
                  <a:srgbClr val="15161A"/>
                </a:solidFill>
                <a:latin typeface="Inter" pitchFamily="34" charset="0"/>
                <a:ea typeface="Inter" pitchFamily="34" charset="-122"/>
                <a:cs typeface="Inter" pitchFamily="34" charset="-120"/>
              </a:rPr>
              <a:t>What 5,428 hackathon projects say about pitching</a:t>
            </a:r>
            <a:endParaRPr lang="en-US" sz="5400" dirty="0"/>
          </a:p>
        </p:txBody>
      </p:sp>
      <p:sp>
        <p:nvSpPr>
          <p:cNvPr id="5" name="Text 2"/>
          <p:cNvSpPr/>
          <p:nvPr/>
        </p:nvSpPr>
        <p:spPr>
          <a:xfrm>
            <a:off x="1524000" y="4567428"/>
            <a:ext cx="9144000" cy="391668"/>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Colosseum Copilot data, Renaissance to Cypherpunk</a:t>
            </a:r>
            <a:endParaRPr lang="en-US" sz="1800" dirty="0"/>
          </a:p>
        </p:txBody>
      </p:sp>
      <p:sp>
        <p:nvSpPr>
          <p:cNvPr id="6" name="Text 3"/>
          <p:cNvSpPr/>
          <p:nvPr/>
        </p:nvSpPr>
        <p:spPr>
          <a:xfrm>
            <a:off x="1524000" y="5054346"/>
            <a:ext cx="9144000" cy="260223"/>
          </a:xfrm>
          <a:prstGeom prst="rect">
            <a:avLst/>
          </a:prstGeom>
          <a:noFill/>
          <a:ln/>
        </p:spPr>
        <p:txBody>
          <a:bodyPr wrap="square" lIns="0" tIns="0" rIns="0" bIns="0" rtlCol="0" anchor="t"/>
          <a:lstStyle/>
          <a:p>
            <a:pPr algn="ctr" indent="0" marL="0">
              <a:lnSpc>
                <a:spcPct val="115000"/>
              </a:lnSpc>
              <a:buNone/>
            </a:pPr>
            <a:r>
              <a:rPr lang="en-US" sz="1100" dirty="0">
                <a:solidFill>
                  <a:srgbClr val="6B6E76"/>
                </a:solidFill>
                <a:latin typeface="Inter" pitchFamily="34" charset="0"/>
                <a:ea typeface="Inter" pitchFamily="34" charset="-122"/>
                <a:cs typeface="Inter" pitchFamily="34" charset="-120"/>
              </a:rPr>
              <a:t>Source: Colosseum Copilot project index, pulled 2026-09-25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BASE RATE</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Only one project in eighteen takes home a prize</a:t>
            </a:r>
            <a:endParaRPr lang="en-US" sz="3600" dirty="0"/>
          </a:p>
        </p:txBody>
      </p:sp>
      <p:sp>
        <p:nvSpPr>
          <p:cNvPr id="5" name="Text 2"/>
          <p:cNvSpPr/>
          <p:nvPr/>
        </p:nvSpPr>
        <p:spPr>
          <a:xfrm>
            <a:off x="609600" y="3198114"/>
            <a:ext cx="4438650" cy="203073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5.4%</a:t>
            </a:r>
            <a:endParaRPr lang="en-US" sz="13500" dirty="0"/>
          </a:p>
        </p:txBody>
      </p:sp>
      <p:sp>
        <p:nvSpPr>
          <p:cNvPr id="6" name="Text 3"/>
          <p:cNvSpPr/>
          <p:nvPr/>
        </p:nvSpPr>
        <p:spPr>
          <a:xfrm>
            <a:off x="5276850" y="3702177"/>
            <a:ext cx="6305550" cy="1022604"/>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293 winners out of 5,428 submissions across four global hackathons. Judges watch hundreds of three-minute videos per track.</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Colosseum Copilot /compare, winnersOnly cohort vs all projects, pulled 2026-09-25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WHAT DOES NOT SEPARATE WINNERS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Winners write their one-liners exactly as long as everyone else</a:t>
            </a:r>
            <a:endParaRPr lang="en-US" sz="3600" dirty="0"/>
          </a:p>
        </p:txBody>
      </p:sp>
      <p:sp>
        <p:nvSpPr>
          <p:cNvPr id="5" name="Shape 2"/>
          <p:cNvSpPr/>
          <p:nvPr/>
        </p:nvSpPr>
        <p:spPr>
          <a:xfrm>
            <a:off x="609600" y="3781235"/>
            <a:ext cx="3505200" cy="0"/>
          </a:xfrm>
          <a:prstGeom prst="line">
            <a:avLst/>
          </a:prstGeom>
          <a:noFill/>
          <a:ln w="19050">
            <a:solidFill>
              <a:srgbClr val="15161A"/>
            </a:solidFill>
            <a:prstDash val="solid"/>
          </a:ln>
        </p:spPr>
      </p:sp>
      <p:sp>
        <p:nvSpPr>
          <p:cNvPr id="6" name="Text 3"/>
          <p:cNvSpPr/>
          <p:nvPr/>
        </p:nvSpPr>
        <p:spPr>
          <a:xfrm>
            <a:off x="609600" y="4028885"/>
            <a:ext cx="3505200" cy="812292"/>
          </a:xfrm>
          <a:prstGeom prst="rect">
            <a:avLst/>
          </a:prstGeom>
          <a:noFill/>
          <a:ln/>
        </p:spPr>
        <p:txBody>
          <a:bodyPr wrap="square" lIns="0" tIns="0" rIns="0" bIns="0" rtlCol="0" anchor="t"/>
          <a:lstStyle/>
          <a:p>
            <a:pPr algn="l" indent="0" marL="0">
              <a:lnSpc>
                <a:spcPct val="115000"/>
              </a:lnSpc>
              <a:buNone/>
            </a:pPr>
            <a:r>
              <a:rPr lang="en-US" sz="4200" b="1" dirty="0">
                <a:solidFill>
                  <a:srgbClr val="15161A"/>
                </a:solidFill>
                <a:latin typeface="Inter" pitchFamily="34" charset="0"/>
                <a:ea typeface="Inter" pitchFamily="34" charset="-122"/>
                <a:cs typeface="Inter" pitchFamily="34" charset="-120"/>
              </a:rPr>
              <a:t>13</a:t>
            </a:r>
            <a:endParaRPr lang="en-US" sz="4200" dirty="0"/>
          </a:p>
        </p:txBody>
      </p:sp>
      <p:sp>
        <p:nvSpPr>
          <p:cNvPr id="7" name="Text 4"/>
          <p:cNvSpPr/>
          <p:nvPr/>
        </p:nvSpPr>
        <p:spPr>
          <a:xfrm>
            <a:off x="609600" y="4936427"/>
            <a:ext cx="35052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median words, winners</a:t>
            </a:r>
            <a:endParaRPr lang="en-US" sz="1400" dirty="0"/>
          </a:p>
        </p:txBody>
      </p:sp>
      <p:sp>
        <p:nvSpPr>
          <p:cNvPr id="8" name="Shape 5"/>
          <p:cNvSpPr/>
          <p:nvPr/>
        </p:nvSpPr>
        <p:spPr>
          <a:xfrm>
            <a:off x="4343400" y="3781235"/>
            <a:ext cx="3505200" cy="0"/>
          </a:xfrm>
          <a:prstGeom prst="line">
            <a:avLst/>
          </a:prstGeom>
          <a:noFill/>
          <a:ln w="19050">
            <a:solidFill>
              <a:srgbClr val="15161A"/>
            </a:solidFill>
            <a:prstDash val="solid"/>
          </a:ln>
        </p:spPr>
      </p:sp>
      <p:sp>
        <p:nvSpPr>
          <p:cNvPr id="9" name="Text 6"/>
          <p:cNvSpPr/>
          <p:nvPr/>
        </p:nvSpPr>
        <p:spPr>
          <a:xfrm>
            <a:off x="4343400" y="4028885"/>
            <a:ext cx="3505200" cy="812292"/>
          </a:xfrm>
          <a:prstGeom prst="rect">
            <a:avLst/>
          </a:prstGeom>
          <a:noFill/>
          <a:ln/>
        </p:spPr>
        <p:txBody>
          <a:bodyPr wrap="square" lIns="0" tIns="0" rIns="0" bIns="0" rtlCol="0" anchor="t"/>
          <a:lstStyle/>
          <a:p>
            <a:pPr algn="l" indent="0" marL="0">
              <a:lnSpc>
                <a:spcPct val="115000"/>
              </a:lnSpc>
              <a:buNone/>
            </a:pPr>
            <a:r>
              <a:rPr lang="en-US" sz="4200" b="1" dirty="0">
                <a:solidFill>
                  <a:srgbClr val="15161A"/>
                </a:solidFill>
                <a:latin typeface="Inter" pitchFamily="34" charset="0"/>
                <a:ea typeface="Inter" pitchFamily="34" charset="-122"/>
                <a:cs typeface="Inter" pitchFamily="34" charset="-120"/>
              </a:rPr>
              <a:t>13</a:t>
            </a:r>
            <a:endParaRPr lang="en-US" sz="4200" dirty="0"/>
          </a:p>
        </p:txBody>
      </p:sp>
      <p:sp>
        <p:nvSpPr>
          <p:cNvPr id="10" name="Text 7"/>
          <p:cNvSpPr/>
          <p:nvPr/>
        </p:nvSpPr>
        <p:spPr>
          <a:xfrm>
            <a:off x="4343400" y="4936427"/>
            <a:ext cx="35052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median words, non-winners</a:t>
            </a:r>
            <a:endParaRPr lang="en-US" sz="1400" dirty="0"/>
          </a:p>
        </p:txBody>
      </p:sp>
      <p:sp>
        <p:nvSpPr>
          <p:cNvPr id="11" name="Shape 8"/>
          <p:cNvSpPr/>
          <p:nvPr/>
        </p:nvSpPr>
        <p:spPr>
          <a:xfrm>
            <a:off x="8077200" y="3781235"/>
            <a:ext cx="3505200" cy="0"/>
          </a:xfrm>
          <a:prstGeom prst="line">
            <a:avLst/>
          </a:prstGeom>
          <a:noFill/>
          <a:ln w="19050">
            <a:solidFill>
              <a:srgbClr val="15161A"/>
            </a:solidFill>
            <a:prstDash val="solid"/>
          </a:ln>
        </p:spPr>
      </p:sp>
      <p:sp>
        <p:nvSpPr>
          <p:cNvPr id="12" name="Text 9"/>
          <p:cNvSpPr/>
          <p:nvPr/>
        </p:nvSpPr>
        <p:spPr>
          <a:xfrm>
            <a:off x="8077200" y="4028885"/>
            <a:ext cx="3505200" cy="812292"/>
          </a:xfrm>
          <a:prstGeom prst="rect">
            <a:avLst/>
          </a:prstGeom>
          <a:noFill/>
          <a:ln/>
        </p:spPr>
        <p:txBody>
          <a:bodyPr wrap="square" lIns="0" tIns="0" rIns="0" bIns="0" rtlCol="0" anchor="t"/>
          <a:lstStyle/>
          <a:p>
            <a:pPr algn="l" indent="0" marL="0">
              <a:lnSpc>
                <a:spcPct val="115000"/>
              </a:lnSpc>
              <a:buNone/>
            </a:pPr>
            <a:r>
              <a:rPr lang="en-US" sz="4200" b="1" dirty="0">
                <a:solidFill>
                  <a:srgbClr val="15161A"/>
                </a:solidFill>
                <a:latin typeface="Inter" pitchFamily="34" charset="0"/>
                <a:ea typeface="Inter" pitchFamily="34" charset="-122"/>
                <a:cs typeface="Inter" pitchFamily="34" charset="-120"/>
              </a:rPr>
              <a:t>4%</a:t>
            </a:r>
            <a:endParaRPr lang="en-US" sz="4200" dirty="0"/>
          </a:p>
        </p:txBody>
      </p:sp>
      <p:sp>
        <p:nvSpPr>
          <p:cNvPr id="13" name="Text 10"/>
          <p:cNvSpPr/>
          <p:nvPr/>
        </p:nvSpPr>
        <p:spPr>
          <a:xfrm>
            <a:off x="8077200" y="4936427"/>
            <a:ext cx="35052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use hype words, in both groups</a:t>
            </a:r>
            <a:endParaRPr lang="en-US" sz="1400" dirty="0"/>
          </a:p>
        </p:txBody>
      </p:sp>
      <p:sp>
        <p:nvSpPr>
          <p:cNvPr id="14" name="Text 11"/>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363-project sample over 15 category queries (180 winners, 183 non-winners), Colosseum Copilot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WHAT DOES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Winners are far more likely to be building in public</a:t>
            </a:r>
            <a:endParaRPr lang="en-US" sz="3600" dirty="0"/>
          </a:p>
        </p:txBody>
      </p:sp>
      <p:sp>
        <p:nvSpPr>
          <p:cNvPr id="5" name="Text 2"/>
          <p:cNvSpPr/>
          <p:nvPr/>
        </p:nvSpPr>
        <p:spPr>
          <a:xfrm>
            <a:off x="609600" y="3716655"/>
            <a:ext cx="72390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Winners with a linked X account</a:t>
            </a:r>
            <a:endParaRPr lang="en-US" sz="1400" dirty="0"/>
          </a:p>
        </p:txBody>
      </p:sp>
      <p:sp>
        <p:nvSpPr>
          <p:cNvPr id="6" name="Shape 3"/>
          <p:cNvSpPr/>
          <p:nvPr/>
        </p:nvSpPr>
        <p:spPr>
          <a:xfrm>
            <a:off x="609600" y="4229481"/>
            <a:ext cx="6035040" cy="133350"/>
          </a:xfrm>
          <a:prstGeom prst="rect">
            <a:avLst/>
          </a:prstGeom>
          <a:solidFill>
            <a:srgbClr val="2F5BEA"/>
          </a:solidFill>
          <a:ln/>
        </p:spPr>
      </p:sp>
      <p:sp>
        <p:nvSpPr>
          <p:cNvPr id="7" name="Text 4"/>
          <p:cNvSpPr/>
          <p:nvPr/>
        </p:nvSpPr>
        <p:spPr>
          <a:xfrm>
            <a:off x="6758940" y="4124706"/>
            <a:ext cx="952500" cy="342900"/>
          </a:xfrm>
          <a:prstGeom prst="rect">
            <a:avLst/>
          </a:prstGeom>
          <a:noFill/>
          <a:ln/>
        </p:spPr>
        <p:txBody>
          <a:bodyPr wrap="square" lIns="0" tIns="0" rIns="0" bIns="0" rtlCol="0" anchor="ctr"/>
          <a:lstStyle/>
          <a:p>
            <a:pPr indent="0" marL="0">
              <a:buNone/>
            </a:pPr>
            <a:r>
              <a:rPr lang="en-US" sz="2100" b="1" dirty="0">
                <a:solidFill>
                  <a:srgbClr val="15161A"/>
                </a:solidFill>
                <a:latin typeface="Inter" pitchFamily="34" charset="0"/>
                <a:ea typeface="Inter" pitchFamily="34" charset="-122"/>
                <a:cs typeface="Inter" pitchFamily="34" charset="-120"/>
              </a:rPr>
              <a:t>96%</a:t>
            </a:r>
            <a:endParaRPr lang="en-US" sz="2100" dirty="0"/>
          </a:p>
        </p:txBody>
      </p:sp>
      <p:sp>
        <p:nvSpPr>
          <p:cNvPr id="8" name="Text 5"/>
          <p:cNvSpPr/>
          <p:nvPr/>
        </p:nvSpPr>
        <p:spPr>
          <a:xfrm>
            <a:off x="609600" y="4562856"/>
            <a:ext cx="72390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Non-winners</a:t>
            </a:r>
            <a:endParaRPr lang="en-US" sz="1400" dirty="0"/>
          </a:p>
        </p:txBody>
      </p:sp>
      <p:sp>
        <p:nvSpPr>
          <p:cNvPr id="9" name="Shape 6"/>
          <p:cNvSpPr/>
          <p:nvPr/>
        </p:nvSpPr>
        <p:spPr>
          <a:xfrm>
            <a:off x="609600" y="5075682"/>
            <a:ext cx="5029200" cy="133350"/>
          </a:xfrm>
          <a:prstGeom prst="rect">
            <a:avLst/>
          </a:prstGeom>
          <a:solidFill>
            <a:srgbClr val="E4E3DD"/>
          </a:solidFill>
          <a:ln/>
        </p:spPr>
      </p:sp>
      <p:sp>
        <p:nvSpPr>
          <p:cNvPr id="10" name="Text 7"/>
          <p:cNvSpPr/>
          <p:nvPr/>
        </p:nvSpPr>
        <p:spPr>
          <a:xfrm>
            <a:off x="5753100" y="4970907"/>
            <a:ext cx="952500" cy="342900"/>
          </a:xfrm>
          <a:prstGeom prst="rect">
            <a:avLst/>
          </a:prstGeom>
          <a:noFill/>
          <a:ln/>
        </p:spPr>
        <p:txBody>
          <a:bodyPr wrap="square" lIns="0" tIns="0" rIns="0" bIns="0" rtlCol="0" anchor="ctr"/>
          <a:lstStyle/>
          <a:p>
            <a:pPr indent="0" marL="0">
              <a:buNone/>
            </a:pPr>
            <a:r>
              <a:rPr lang="en-US" sz="2100" b="1" dirty="0">
                <a:solidFill>
                  <a:srgbClr val="15161A"/>
                </a:solidFill>
                <a:latin typeface="Inter" pitchFamily="34" charset="0"/>
                <a:ea typeface="Inter" pitchFamily="34" charset="-122"/>
                <a:cs typeface="Inter" pitchFamily="34" charset="-120"/>
              </a:rPr>
              <a:t>80%</a:t>
            </a:r>
            <a:endParaRPr lang="en-US" sz="2100" dirty="0"/>
          </a:p>
        </p:txBody>
      </p:sp>
      <p:sp>
        <p:nvSpPr>
          <p:cNvPr id="11" name="Text 8"/>
          <p:cNvSpPr/>
          <p:nvPr/>
        </p:nvSpPr>
        <p:spPr>
          <a:xfrm>
            <a:off x="8077200" y="3846195"/>
            <a:ext cx="350520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The one visible gap in the sample. Colosseum's own guide names it too: build in public, get beta testers early.</a:t>
            </a:r>
            <a:endParaRPr lang="en-US" sz="1800" dirty="0"/>
          </a:p>
        </p:txBody>
      </p:sp>
      <p:sp>
        <p:nvSpPr>
          <p:cNvPr id="12" name="Text 9"/>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same sample; "How to Win a Colosseum Hackathon", blog.colosseum.com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WHAT JUDGES ASK FOR</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Six things, under three minutes</a:t>
            </a:r>
            <a:endParaRPr lang="en-US" sz="3600" dirty="0"/>
          </a:p>
        </p:txBody>
      </p:sp>
      <p:sp>
        <p:nvSpPr>
          <p:cNvPr id="5" name="Text 2"/>
          <p:cNvSpPr/>
          <p:nvPr/>
        </p:nvSpPr>
        <p:spPr>
          <a:xfrm>
            <a:off x="609600" y="2540508"/>
            <a:ext cx="5295900" cy="2181225"/>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Who you are and why you started</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What it is, who it is for, and a working demo</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The market it opens and how you reach the first users</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"How to Win a Colosseum Hackathon" and "Perfecting Your Hackathon Submission", blog.colosseum.com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2666048"/>
            <a:ext cx="9144000" cy="1022604"/>
          </a:xfrm>
          <a:prstGeom prst="rect">
            <a:avLst/>
          </a:prstGeom>
          <a:noFill/>
          <a:ln/>
        </p:spPr>
        <p:txBody>
          <a:bodyPr wrap="square" lIns="0" tIns="0" rIns="0" bIns="0" rtlCol="0" anchor="t"/>
          <a:lstStyle/>
          <a:p>
            <a:pPr algn="ctr" indent="0" marL="0">
              <a:lnSpc>
                <a:spcPct val="115000"/>
              </a:lnSpc>
              <a:buNone/>
            </a:pPr>
            <a:r>
              <a:rPr lang="en-US" sz="2700" dirty="0">
                <a:solidFill>
                  <a:srgbClr val="15161A"/>
                </a:solidFill>
                <a:latin typeface="Inter" pitchFamily="34" charset="0"/>
                <a:ea typeface="Inter" pitchFamily="34" charset="-122"/>
                <a:cs typeface="Inter" pitchFamily="34" charset="-120"/>
              </a:rPr>
              <a:t>"A clear and well-structured narrative is more valuable than professional video editing."</a:t>
            </a:r>
            <a:endParaRPr lang="en-US" sz="2700" dirty="0"/>
          </a:p>
        </p:txBody>
      </p:sp>
      <p:sp>
        <p:nvSpPr>
          <p:cNvPr id="4" name="Text 1"/>
          <p:cNvSpPr/>
          <p:nvPr/>
        </p:nvSpPr>
        <p:spPr>
          <a:xfrm>
            <a:off x="1524000" y="3783901"/>
            <a:ext cx="9144000" cy="312801"/>
          </a:xfrm>
          <a:prstGeom prst="rect">
            <a:avLst/>
          </a:prstGeom>
          <a:noFill/>
          <a:ln/>
        </p:spPr>
        <p:txBody>
          <a:bodyPr wrap="square" lIns="0" tIns="0" rIns="0" bIns="0" rtlCol="0" anchor="t"/>
          <a:lstStyle/>
          <a:p>
            <a:pPr algn="ctr" indent="0" marL="0">
              <a:lnSpc>
                <a:spcPct val="115000"/>
              </a:lnSpc>
              <a:buNone/>
            </a:pPr>
            <a:r>
              <a:rPr lang="en-US" sz="1400" dirty="0">
                <a:solidFill>
                  <a:srgbClr val="6B6E76"/>
                </a:solidFill>
                <a:latin typeface="Inter" pitchFamily="34" charset="0"/>
                <a:ea typeface="Inter" pitchFamily="34" charset="-122"/>
                <a:cs typeface="Inter" pitchFamily="34" charset="-120"/>
              </a:rPr>
              <a:t>Colosseum, Perfecting Your Hackathon Submission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TWO FIRST-PLACE ONE-LINERS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Both name the user and the exact job, with no adjectives</a:t>
            </a:r>
            <a:endParaRPr lang="en-US" sz="3600" dirty="0"/>
          </a:p>
        </p:txBody>
      </p:sp>
      <p:sp>
        <p:nvSpPr>
          <p:cNvPr id="5" name="Shape 2"/>
          <p:cNvSpPr/>
          <p:nvPr/>
        </p:nvSpPr>
        <p:spPr>
          <a:xfrm>
            <a:off x="609600" y="3677412"/>
            <a:ext cx="5372100" cy="1675638"/>
          </a:xfrm>
          <a:prstGeom prst="roundRect">
            <a:avLst>
              <a:gd name="adj" fmla="val 6548"/>
            </a:avLst>
          </a:prstGeom>
          <a:solidFill>
            <a:srgbClr val="F1F0EA"/>
          </a:solidFill>
          <a:ln w="9525">
            <a:solidFill>
              <a:srgbClr val="E4E3DD"/>
            </a:solidFill>
            <a:prstDash val="solid"/>
          </a:ln>
        </p:spPr>
      </p:sp>
      <p:sp>
        <p:nvSpPr>
          <p:cNvPr id="6" name="Text 3"/>
          <p:cNvSpPr/>
          <p:nvPr/>
        </p:nvSpPr>
        <p:spPr>
          <a:xfrm>
            <a:off x="819150" y="3886962"/>
            <a:ext cx="4953000" cy="943737"/>
          </a:xfrm>
          <a:prstGeom prst="rect">
            <a:avLst/>
          </a:prstGeom>
          <a:noFill/>
          <a:ln/>
        </p:spPr>
        <p:txBody>
          <a:bodyPr wrap="square" lIns="0" tIns="0" rIns="0" bIns="0" rtlCol="0" anchor="t"/>
          <a:lstStyle/>
          <a:p>
            <a:pPr algn="l" indent="0" marL="0">
              <a:lnSpc>
                <a:spcPct val="115000"/>
              </a:lnSpc>
              <a:buNone/>
            </a:pPr>
            <a:r>
              <a:rPr lang="en-US" sz="1700" dirty="0">
                <a:solidFill>
                  <a:srgbClr val="15161A"/>
                </a:solidFill>
                <a:latin typeface="Inter" pitchFamily="34" charset="0"/>
                <a:ea typeface="Inter" pitchFamily="34" charset="-122"/>
                <a:cs typeface="Inter" pitchFamily="34" charset="-120"/>
              </a:rPr>
              <a:t>"Transaction debugger for Solana providing line-by-line traces, source mapping, and local variable inspection."</a:t>
            </a:r>
            <a:endParaRPr lang="en-US" sz="1700" dirty="0"/>
          </a:p>
        </p:txBody>
      </p:sp>
      <p:sp>
        <p:nvSpPr>
          <p:cNvPr id="7" name="Text 4"/>
          <p:cNvSpPr/>
          <p:nvPr/>
        </p:nvSpPr>
        <p:spPr>
          <a:xfrm>
            <a:off x="819150" y="4925949"/>
            <a:ext cx="49530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Seer · 1st place, Infrastructure</a:t>
            </a:r>
            <a:endParaRPr lang="en-US" sz="1400" dirty="0"/>
          </a:p>
        </p:txBody>
      </p:sp>
      <p:sp>
        <p:nvSpPr>
          <p:cNvPr id="8" name="Shape 5"/>
          <p:cNvSpPr/>
          <p:nvPr/>
        </p:nvSpPr>
        <p:spPr>
          <a:xfrm>
            <a:off x="6210300" y="3677412"/>
            <a:ext cx="5372100" cy="1675638"/>
          </a:xfrm>
          <a:prstGeom prst="roundRect">
            <a:avLst>
              <a:gd name="adj" fmla="val 6548"/>
            </a:avLst>
          </a:prstGeom>
          <a:solidFill>
            <a:srgbClr val="F1F0EA"/>
          </a:solidFill>
          <a:ln w="9525">
            <a:solidFill>
              <a:srgbClr val="E4E3DD"/>
            </a:solidFill>
            <a:prstDash val="solid"/>
          </a:ln>
        </p:spPr>
      </p:sp>
      <p:sp>
        <p:nvSpPr>
          <p:cNvPr id="9" name="Text 6"/>
          <p:cNvSpPr/>
          <p:nvPr/>
        </p:nvSpPr>
        <p:spPr>
          <a:xfrm>
            <a:off x="6419850" y="3886962"/>
            <a:ext cx="4953000" cy="943737"/>
          </a:xfrm>
          <a:prstGeom prst="rect">
            <a:avLst/>
          </a:prstGeom>
          <a:noFill/>
          <a:ln/>
        </p:spPr>
        <p:txBody>
          <a:bodyPr wrap="square" lIns="0" tIns="0" rIns="0" bIns="0" rtlCol="0" anchor="t"/>
          <a:lstStyle/>
          <a:p>
            <a:pPr algn="l" indent="0" marL="0">
              <a:lnSpc>
                <a:spcPct val="115000"/>
              </a:lnSpc>
              <a:buNone/>
            </a:pPr>
            <a:r>
              <a:rPr lang="en-US" sz="1700" dirty="0">
                <a:solidFill>
                  <a:srgbClr val="15161A"/>
                </a:solidFill>
                <a:latin typeface="Inter" pitchFamily="34" charset="0"/>
                <a:ea typeface="Inter" pitchFamily="34" charset="-122"/>
                <a:cs typeface="Inter" pitchFamily="34" charset="-120"/>
              </a:rPr>
              <a:t>"Mobile sentiment prediction app where users stake on crowd opinions rather than event outcomes."</a:t>
            </a:r>
            <a:endParaRPr lang="en-US" sz="1700" dirty="0"/>
          </a:p>
        </p:txBody>
      </p:sp>
      <p:sp>
        <p:nvSpPr>
          <p:cNvPr id="10" name="Text 7"/>
          <p:cNvSpPr/>
          <p:nvPr/>
        </p:nvSpPr>
        <p:spPr>
          <a:xfrm>
            <a:off x="6419850" y="4925949"/>
            <a:ext cx="4953000" cy="312801"/>
          </a:xfrm>
          <a:prstGeom prst="rect">
            <a:avLst/>
          </a:prstGeom>
          <a:noFill/>
          <a:ln/>
        </p:spPr>
        <p:txBody>
          <a:bodyPr wrap="square" lIns="0" tIns="0" rIns="0" bIns="0" rtlCol="0" anchor="t"/>
          <a:lstStyle/>
          <a:p>
            <a:pPr algn="l" indent="0" marL="0">
              <a:lnSpc>
                <a:spcPct val="115000"/>
              </a:lnSpc>
              <a:buNone/>
            </a:pPr>
            <a:r>
              <a:rPr lang="en-US" sz="1400" dirty="0">
                <a:solidFill>
                  <a:srgbClr val="6B6E76"/>
                </a:solidFill>
                <a:latin typeface="Inter" pitchFamily="34" charset="0"/>
                <a:ea typeface="Inter" pitchFamily="34" charset="-122"/>
                <a:cs typeface="Inter" pitchFamily="34" charset="-120"/>
              </a:rPr>
              <a:t>Trepa · 1st place, Consumer</a:t>
            </a:r>
            <a:endParaRPr lang="en-US" sz="1400" dirty="0"/>
          </a:p>
        </p:txBody>
      </p:sp>
      <p:sp>
        <p:nvSpPr>
          <p:cNvPr id="11" name="Text 8"/>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Colosseum Copilot project records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TAKEAWAY</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Spend the last week on the story, not the edit</a:t>
            </a:r>
            <a:endParaRPr lang="en-US" sz="3600" dirty="0"/>
          </a:p>
        </p:txBody>
      </p:sp>
      <p:sp>
        <p:nvSpPr>
          <p:cNvPr id="5" name="Text 2"/>
          <p:cNvSpPr/>
          <p:nvPr/>
        </p:nvSpPr>
        <p:spPr>
          <a:xfrm>
            <a:off x="609600" y="2540508"/>
            <a:ext cx="5295900" cy="2181225"/>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Write the headlines first; they should make the case alone</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One claim per slide, one piece of evidence under it</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Post progress in public from day one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2235708"/>
            <a:ext cx="9144000" cy="1804416"/>
          </a:xfrm>
          <a:prstGeom prst="rect">
            <a:avLst/>
          </a:prstGeom>
          <a:noFill/>
          <a:ln/>
        </p:spPr>
        <p:txBody>
          <a:bodyPr wrap="square" lIns="0" tIns="0" rIns="0" bIns="0" rtlCol="0" anchor="t"/>
          <a:lstStyle/>
          <a:p>
            <a:pPr algn="ctr" indent="0" marL="0">
              <a:lnSpc>
                <a:spcPct val="105000"/>
              </a:lnSpc>
              <a:buNone/>
            </a:pPr>
            <a:r>
              <a:rPr lang="en-US" sz="5400" b="1" dirty="0">
                <a:solidFill>
                  <a:srgbClr val="15161A"/>
                </a:solidFill>
                <a:latin typeface="Inter" pitchFamily="34" charset="0"/>
                <a:ea typeface="Inter" pitchFamily="34" charset="-122"/>
                <a:cs typeface="Inter" pitchFamily="34" charset="-120"/>
              </a:rPr>
              <a:t>Format is table stakes. The argument wins.</a:t>
            </a:r>
            <a:endParaRPr lang="en-US" sz="5400" dirty="0"/>
          </a:p>
        </p:txBody>
      </p:sp>
      <p:sp>
        <p:nvSpPr>
          <p:cNvPr id="4" name="Text 1"/>
          <p:cNvSpPr/>
          <p:nvPr/>
        </p:nvSpPr>
        <p:spPr>
          <a:xfrm>
            <a:off x="1524000" y="4135374"/>
            <a:ext cx="9144000" cy="391668"/>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plinthdeck.vercel.app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5,428 hackathon projects say about pitching</dc:title>
  <dc:subject>PptxGenJS Presentation</dc:subject>
  <dc:creator>PptxGenJS</dc:creator>
  <cp:lastModifiedBy>PptxGenJS</cp:lastModifiedBy>
  <cp:revision>1</cp:revision>
  <dcterms:created xsi:type="dcterms:W3CDTF">2026-09-25T15:14:42Z</dcterms:created>
  <dcterms:modified xsi:type="dcterms:W3CDTF">2026-09-25T15:14:42Z</dcterms:modified>
</cp:coreProperties>
</file>