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one narrow claim. No token fixes the chain it runs on. What a token can do is choose where its long-term balances live, and make that place need a signature a quantum computer cannot 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in this room hold something on Solana. The honest question is not whether this happens this year. It is what still stands if it happens while your money is still sitting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finding. Everything after this slide is how we built the right-hand box, what it costs, and where it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Lattice schemes are faster and smaller, but newer. Hash-based signatures assume only that SHA-256 behaves like a hash. For money meant to sit for decades, the oldest assumption is the one I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one-time signature leaks part of its key each time it signs. Signing twice would let someone forge. So the program never allows it: spend means drain, and the change moves to a fresh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trick that keeps the program stateless. There is no account holding a public key that could be swapped. If the signature does not rebuild the key that made the address, the spend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price. Verifying a Winternitz signature means hashing a lot. It fits in one transaction, but only just, which is why this is for cold storage and not for buying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program, small rent. Pinocchio instead of Anchor is most of the reason it is under seven kilobytes.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implementations of the same hash chains, in two languages, agreeing on a real transaction. That is the test I trust more than any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finding because it is so ordinary. The tests were green. They were green for the wrong reason. It only showed up when each test had to name the exact error it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precise about the limits. Tokens you move to Phantom are protected by Phantom, which means Ed25519. The vault is for balances that sit still. And until someone outside checks the code, it stays on devnet.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thing you can do on Monday without any new cryptography. Count the keys that can still change your token. Every one of them is a single Ed25519 signature away from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sentence as the start. Everything is public, including the parts that are not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1645920"/>
            <a:ext cx="9144000" cy="2668524"/>
          </a:xfrm>
          <a:prstGeom prst="rect">
            <a:avLst/>
          </a:prstGeom>
          <a:noFill/>
          <a:ln/>
        </p:spPr>
        <p:txBody>
          <a:bodyPr wrap="square" lIns="0" tIns="0" rIns="0" bIns="0" rtlCol="0" anchor="t"/>
          <a:lstStyle/>
          <a:p>
            <a:pPr algn="ctr" indent="0" marL="0">
              <a:lnSpc>
                <a:spcPct val="105000"/>
              </a:lnSpc>
              <a:buNone/>
            </a:pPr>
            <a:r>
              <a:rPr lang="en-US" sz="5400" b="1" dirty="0">
                <a:solidFill>
                  <a:srgbClr val="15161A"/>
                </a:solidFill>
                <a:latin typeface="Inter" pitchFamily="34" charset="0"/>
                <a:ea typeface="Inter" pitchFamily="34" charset="-122"/>
                <a:cs typeface="Inter" pitchFamily="34" charset="-120"/>
              </a:rPr>
              <a:t>A token cannot make Solana quantum-safe, but a vault can</a:t>
            </a:r>
            <a:endParaRPr lang="en-US" sz="5400" dirty="0"/>
          </a:p>
        </p:txBody>
      </p:sp>
      <p:sp>
        <p:nvSpPr>
          <p:cNvPr id="4" name="Text 1"/>
          <p:cNvSpPr/>
          <p:nvPr/>
        </p:nvSpPr>
        <p:spPr>
          <a:xfrm>
            <a:off x="1524000" y="4409694"/>
            <a:ext cx="9144000" cy="707136"/>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What QuantCoin protects, what it cannot, and what it cost to build · Bryan Kwandou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THE QUESTION</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If Ed25519 falls, which Solana balances are still safe?</a:t>
            </a:r>
            <a:endParaRPr lang="en-US" sz="3600" dirty="0"/>
          </a:p>
        </p:txBody>
      </p:sp>
      <p:sp>
        <p:nvSpPr>
          <p:cNvPr id="5" name="Text 2"/>
          <p:cNvSpPr/>
          <p:nvPr/>
        </p:nvSpPr>
        <p:spPr>
          <a:xfrm>
            <a:off x="609600" y="2896362"/>
            <a:ext cx="502920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Every wallet, exchange account and program authority signs with Ed25519. Shor's algorithm breaks it once a large enough quantum computer exists.</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whitepaper, section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THE ANSWER</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Only balances that also need a hash-based signature survive</a:t>
            </a:r>
            <a:endParaRPr lang="en-US" sz="3600" dirty="0"/>
          </a:p>
        </p:txBody>
      </p:sp>
      <p:sp>
        <p:nvSpPr>
          <p:cNvPr id="5" name="Shape 2"/>
          <p:cNvSpPr/>
          <p:nvPr/>
        </p:nvSpPr>
        <p:spPr>
          <a:xfrm>
            <a:off x="609600" y="3932396"/>
            <a:ext cx="5372100" cy="1165670"/>
          </a:xfrm>
          <a:prstGeom prst="roundRect">
            <a:avLst>
              <a:gd name="adj" fmla="val 9413"/>
            </a:avLst>
          </a:prstGeom>
          <a:solidFill>
            <a:srgbClr val="F1F0EA"/>
          </a:solidFill>
          <a:ln w="9525">
            <a:solidFill>
              <a:srgbClr val="E4E3DD"/>
            </a:solidFill>
            <a:prstDash val="solid"/>
          </a:ln>
        </p:spPr>
      </p:sp>
      <p:sp>
        <p:nvSpPr>
          <p:cNvPr id="6" name="Text 3"/>
          <p:cNvSpPr/>
          <p:nvPr/>
        </p:nvSpPr>
        <p:spPr>
          <a:xfrm>
            <a:off x="819150" y="4141946"/>
            <a:ext cx="4953000" cy="746570"/>
          </a:xfrm>
          <a:prstGeom prst="rect">
            <a:avLst/>
          </a:prstGeom>
          <a:noFill/>
          <a:ln/>
        </p:spPr>
        <p:txBody>
          <a:bodyPr wrap="square" lIns="0" tIns="0" rIns="0" bIns="0" rtlCol="0" anchor="t"/>
          <a:lstStyle/>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normal wallet</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Ed25519</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after Shor: open</a:t>
            </a:r>
            <a:endParaRPr lang="en-US" sz="1300" dirty="0"/>
          </a:p>
        </p:txBody>
      </p:sp>
      <p:sp>
        <p:nvSpPr>
          <p:cNvPr id="7" name="Shape 4"/>
          <p:cNvSpPr/>
          <p:nvPr/>
        </p:nvSpPr>
        <p:spPr>
          <a:xfrm>
            <a:off x="6210300" y="3932396"/>
            <a:ext cx="5372100" cy="1165670"/>
          </a:xfrm>
          <a:prstGeom prst="roundRect">
            <a:avLst>
              <a:gd name="adj" fmla="val 9413"/>
            </a:avLst>
          </a:prstGeom>
          <a:solidFill>
            <a:srgbClr val="F1F0EA"/>
          </a:solidFill>
          <a:ln w="9525">
            <a:solidFill>
              <a:srgbClr val="E4E3DD"/>
            </a:solidFill>
            <a:prstDash val="solid"/>
          </a:ln>
        </p:spPr>
      </p:sp>
      <p:sp>
        <p:nvSpPr>
          <p:cNvPr id="8" name="Text 5"/>
          <p:cNvSpPr/>
          <p:nvPr/>
        </p:nvSpPr>
        <p:spPr>
          <a:xfrm>
            <a:off x="6419850" y="4141946"/>
            <a:ext cx="4953000" cy="746570"/>
          </a:xfrm>
          <a:prstGeom prst="rect">
            <a:avLst/>
          </a:prstGeom>
          <a:noFill/>
          <a:ln/>
        </p:spPr>
        <p:txBody>
          <a:bodyPr wrap="square" lIns="0" tIns="0" rIns="0" bIns="0" rtlCol="0" anchor="t"/>
          <a:lstStyle/>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hybrid vault</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Ed25519 + WOTS/SHA-256</a:t>
            </a:r>
            <a:endParaRPr lang="en-US" sz="1300" dirty="0"/>
          </a:p>
          <a:p>
            <a:pPr algn="l" indent="0" marL="0">
              <a:lnSpc>
                <a:spcPct val="115000"/>
              </a:lnSpc>
              <a:buNone/>
            </a:pPr>
            <a:r>
              <a:rPr lang="en-US" sz="1300" dirty="0">
                <a:solidFill>
                  <a:srgbClr val="15161A"/>
                </a:solidFill>
                <a:latin typeface="JetBrains Mono" pitchFamily="34" charset="0"/>
                <a:ea typeface="JetBrains Mono" pitchFamily="34" charset="-122"/>
                <a:cs typeface="JetBrains Mono" pitchFamily="34" charset="-120"/>
              </a:rPr>
              <a:t>after Shor: hash half holds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WHY HASH-BASED</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Hash signatures lose only half their bits to Grover</a:t>
            </a:r>
            <a:endParaRPr lang="en-US" sz="3600" dirty="0"/>
          </a:p>
        </p:txBody>
      </p:sp>
      <p:sp>
        <p:nvSpPr>
          <p:cNvPr id="5" name="Text 2"/>
          <p:cNvSpPr/>
          <p:nvPr/>
        </p:nvSpPr>
        <p:spPr>
          <a:xfrm>
            <a:off x="609600" y="2896362"/>
            <a:ext cx="5029200" cy="1653540"/>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Grover's algorithm gives a square-root speedup against a hash, so a 192-bit digest keeps about 96 bits of post-quantum security. NIST standardized this family as SLH-DSA.</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NIST FIPS 205, August 2024; QuantCoin whitepaper, section 3.3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DESIGN</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Winternitz keys sign once, so every spend empties the vault</a:t>
            </a:r>
            <a:endParaRPr lang="en-US" sz="3600" dirty="0"/>
          </a:p>
        </p:txBody>
      </p:sp>
      <p:sp>
        <p:nvSpPr>
          <p:cNvPr id="5" name="Text 2"/>
          <p:cNvSpPr/>
          <p:nvPr/>
        </p:nvSpPr>
        <p:spPr>
          <a:xfrm>
            <a:off x="609600" y="3144012"/>
            <a:ext cx="5295900" cy="1514475"/>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Amount goes to the destination</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The rest goes to the owner's next vault</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The old vault's account is closed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DESIGN</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The vault address itself commits to both keys</a:t>
            </a:r>
            <a:endParaRPr lang="en-US" sz="3600" dirty="0"/>
          </a:p>
        </p:txBody>
      </p:sp>
      <p:sp>
        <p:nvSpPr>
          <p:cNvPr id="5" name="Text 2"/>
          <p:cNvSpPr/>
          <p:nvPr/>
        </p:nvSpPr>
        <p:spPr>
          <a:xfrm>
            <a:off x="609600" y="2292858"/>
            <a:ext cx="5029200" cy="1653540"/>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The address is a PDA of the Winternitz key hash and the owner. The program recomputes the Winternitz public key from the signature and checks it lands on the same address. Nothing is stored on-chain.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COST</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A quantum-safe spend uses about 610,000 compute units</a:t>
            </a:r>
            <a:endParaRPr lang="en-US" sz="3600" dirty="0"/>
          </a:p>
        </p:txBody>
      </p:sp>
      <p:sp>
        <p:nvSpPr>
          <p:cNvPr id="5" name="Text 2"/>
          <p:cNvSpPr/>
          <p:nvPr/>
        </p:nvSpPr>
        <p:spPr>
          <a:xfrm>
            <a:off x="609600" y="3182112"/>
            <a:ext cx="4438650" cy="398526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610k CU</a:t>
            </a:r>
            <a:endParaRPr lang="en-US" sz="13500" dirty="0"/>
          </a:p>
        </p:txBody>
      </p:sp>
      <p:sp>
        <p:nvSpPr>
          <p:cNvPr id="6" name="Text 3"/>
          <p:cNvSpPr/>
          <p:nvPr/>
        </p:nvSpPr>
        <p:spPr>
          <a:xfrm>
            <a:off x="5276850" y="4663440"/>
            <a:ext cx="6305550" cy="1022604"/>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Typical spend on devnet. Projected worst case is 1.09 million, under the 1.4 million limit. The transaction is 1,124 of 1,232 bytes.</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measured on devnet 2026-09-23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COST</a:t>
            </a:r>
            <a:endParaRPr lang="en-US" sz="1100" dirty="0"/>
          </a:p>
        </p:txBody>
      </p:sp>
      <p:sp>
        <p:nvSpPr>
          <p:cNvPr id="4" name="Text 1"/>
          <p:cNvSpPr/>
          <p:nvPr/>
        </p:nvSpPr>
        <p:spPr>
          <a:xfrm>
            <a:off x="609600" y="914400"/>
            <a:ext cx="6236208" cy="1283208"/>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Deploying the program cost 0.0376 SOL on devnet</a:t>
            </a:r>
            <a:endParaRPr lang="en-US" sz="3600" dirty="0"/>
          </a:p>
        </p:txBody>
      </p:sp>
      <p:sp>
        <p:nvSpPr>
          <p:cNvPr id="5" name="Text 2"/>
          <p:cNvSpPr/>
          <p:nvPr/>
        </p:nvSpPr>
        <p:spPr>
          <a:xfrm>
            <a:off x="609600" y="2578608"/>
            <a:ext cx="4438650" cy="3985260"/>
          </a:xfrm>
          <a:prstGeom prst="rect">
            <a:avLst/>
          </a:prstGeom>
          <a:noFill/>
          <a:ln/>
        </p:spPr>
        <p:txBody>
          <a:bodyPr wrap="square" lIns="0" tIns="0" rIns="0" bIns="0" rtlCol="0" anchor="t"/>
          <a:lstStyle/>
          <a:p>
            <a:pPr algn="l" indent="0" marL="0">
              <a:lnSpc>
                <a:spcPct val="95000"/>
              </a:lnSpc>
              <a:buNone/>
            </a:pPr>
            <a:r>
              <a:rPr lang="en-US" sz="13500" b="1" dirty="0">
                <a:solidFill>
                  <a:srgbClr val="2F5BEA"/>
                </a:solidFill>
                <a:latin typeface="Inter" pitchFamily="34" charset="0"/>
                <a:ea typeface="Inter" pitchFamily="34" charset="-122"/>
                <a:cs typeface="Inter" pitchFamily="34" charset="-120"/>
              </a:rPr>
              <a:t>0.0376</a:t>
            </a:r>
            <a:endParaRPr lang="en-US" sz="13500" dirty="0"/>
          </a:p>
        </p:txBody>
      </p:sp>
      <p:sp>
        <p:nvSpPr>
          <p:cNvPr id="6" name="Text 3"/>
          <p:cNvSpPr/>
          <p:nvPr/>
        </p:nvSpPr>
        <p:spPr>
          <a:xfrm>
            <a:off x="5276850" y="4059936"/>
            <a:ext cx="6305550" cy="1022604"/>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SOL for the 6,872-byte program. Minting the full 22 trillion supply into the first vault cost another 0.0041 SOL.</a:t>
            </a:r>
            <a:endParaRPr lang="en-US" sz="1800" dirty="0"/>
          </a:p>
        </p:txBody>
      </p:sp>
      <p:sp>
        <p:nvSpPr>
          <p:cNvPr id="7" name="Text 4"/>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devnet deployment table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PROOF</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The whole supply moved once on devnet, and it matched</a:t>
            </a:r>
            <a:endParaRPr lang="en-US" sz="3600" dirty="0"/>
          </a:p>
        </p:txBody>
      </p:sp>
      <p:sp>
        <p:nvSpPr>
          <p:cNvPr id="5" name="Text 2"/>
          <p:cNvSpPr/>
          <p:nvPr/>
        </p:nvSpPr>
        <p:spPr>
          <a:xfrm>
            <a:off x="609600" y="2896362"/>
            <a:ext cx="5029200" cy="1338072"/>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Spend Np26Uxfw sent 1,000,000 QC, refunded 21,999,999,000,000 QC to a new vault and closed the old one. The TypeScript signer and Rust verifier agreed.</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devnet run 2026-09-23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AUDIT</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The internal audit caught a test that passed for the wrong reason</a:t>
            </a:r>
            <a:endParaRPr lang="en-US" sz="3600" dirty="0"/>
          </a:p>
        </p:txBody>
      </p:sp>
      <p:sp>
        <p:nvSpPr>
          <p:cNvPr id="5" name="Text 2"/>
          <p:cNvSpPr/>
          <p:nvPr/>
        </p:nvSpPr>
        <p:spPr>
          <a:xfrm>
            <a:off x="609600" y="2896362"/>
            <a:ext cx="5029200" cy="1653540"/>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Negative tests failed on an earlier check, not the one they claimed to test. Fixed, and every test now asserts its exact error code. A client bug that could lock a vault after a failed broadcast was fixed too.</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audit/AUDIT.md, findings F1 and F2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CAVEATS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QuantCoin in a normal wallet is exactly as exposed as SOL</a:t>
            </a:r>
            <a:endParaRPr lang="en-US" sz="3600" dirty="0"/>
          </a:p>
        </p:txBody>
      </p:sp>
      <p:sp>
        <p:nvSpPr>
          <p:cNvPr id="5" name="Text 2"/>
          <p:cNvSpPr/>
          <p:nvPr/>
        </p:nvSpPr>
        <p:spPr>
          <a:xfrm>
            <a:off x="609600" y="3144012"/>
            <a:ext cx="5295900" cy="1847850"/>
          </a:xfrm>
          <a:prstGeom prst="rect">
            <a:avLst/>
          </a:prstGeom>
          <a:noFill/>
          <a:ln/>
        </p:spPr>
        <p:txBody>
          <a:bodyPr wrap="square" lIns="0" tIns="0" rIns="0" bIns="0" rtlCol="0" anchor="t"/>
          <a:lstStyle/>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Only vault balances get the hash half</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Vault secrets sit in plaintext until moved offline</a:t>
            </a:r>
            <a:endParaRPr lang="en-US" sz="1800" dirty="0"/>
          </a:p>
          <a:p>
            <a:pPr marL="266700" indent="-266700">
              <a:lnSpc>
                <a:spcPct val="120000"/>
              </a:lnSpc>
              <a:spcAft>
                <a:spcPts val="1300"/>
              </a:spcAft>
              <a:buSzPct val="100000"/>
              <a:buChar char="—"/>
            </a:pPr>
            <a:r>
              <a:rPr lang="en-US" sz="1800" dirty="0">
                <a:solidFill>
                  <a:srgbClr val="15161A"/>
                </a:solidFill>
                <a:latin typeface="Inter" pitchFamily="34" charset="0"/>
                <a:ea typeface="Inter" pitchFamily="34" charset="-122"/>
                <a:cs typeface="Inter" pitchFamily="34" charset="-120"/>
              </a:rPr>
              <a:t>No external audit yet, so no mainnet yet</a:t>
            </a:r>
            <a:endParaRPr lang="en-US" sz="1800" dirty="0"/>
          </a:p>
        </p:txBody>
      </p:sp>
      <p:sp>
        <p:nvSpPr>
          <p:cNvPr id="6" name="Text 3"/>
          <p:cNvSpPr/>
          <p:nvPr/>
        </p:nvSpPr>
        <p:spPr>
          <a:xfrm>
            <a:off x="609600" y="6115050"/>
            <a:ext cx="10972800" cy="209550"/>
          </a:xfrm>
          <a:prstGeom prst="rect">
            <a:avLst/>
          </a:prstGeom>
          <a:noFill/>
          <a:ln/>
        </p:spPr>
        <p:txBody>
          <a:bodyPr wrap="square" lIns="0" tIns="0" rIns="0" bIns="0" rtlCol="0" anchor="b"/>
          <a:lstStyle/>
          <a:p>
            <a:pPr indent="0" marL="0">
              <a:buNone/>
            </a:pPr>
            <a:r>
              <a:rPr lang="en-US" sz="1100" dirty="0">
                <a:solidFill>
                  <a:srgbClr val="6B6E76"/>
                </a:solidFill>
                <a:latin typeface="Inter" pitchFamily="34" charset="0"/>
                <a:ea typeface="Inter" pitchFamily="34" charset="-122"/>
                <a:cs typeface="Inter" pitchFamily="34" charset="-120"/>
              </a:rPr>
              <a:t>Source: QuantCoin README; audit/AUDIT.md finding F5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609600" y="609600"/>
            <a:ext cx="10972800" cy="190500"/>
          </a:xfrm>
          <a:prstGeom prst="rect">
            <a:avLst/>
          </a:prstGeom>
          <a:noFill/>
          <a:ln/>
        </p:spPr>
        <p:txBody>
          <a:bodyPr wrap="square" lIns="0" tIns="0" rIns="0" bIns="0" rtlCol="0" anchor="ctr"/>
          <a:lstStyle/>
          <a:p>
            <a:pPr indent="0" marL="0">
              <a:buNone/>
            </a:pPr>
            <a:r>
              <a:rPr lang="en-US" sz="1100" b="1" spc="100" kern="0" dirty="0">
                <a:solidFill>
                  <a:srgbClr val="6B6E76"/>
                </a:solidFill>
                <a:latin typeface="Inter" pitchFamily="34" charset="0"/>
                <a:ea typeface="Inter" pitchFamily="34" charset="-122"/>
                <a:cs typeface="Inter" pitchFamily="34" charset="-120"/>
              </a:rPr>
              <a:t>TRY THIS</a:t>
            </a:r>
            <a:endParaRPr lang="en-US" sz="1100" dirty="0"/>
          </a:p>
        </p:txBody>
      </p:sp>
      <p:sp>
        <p:nvSpPr>
          <p:cNvPr id="4" name="Text 1"/>
          <p:cNvSpPr/>
          <p:nvPr/>
        </p:nvSpPr>
        <p:spPr>
          <a:xfrm>
            <a:off x="609600" y="914400"/>
            <a:ext cx="6236208" cy="1886712"/>
          </a:xfrm>
          <a:prstGeom prst="rect">
            <a:avLst/>
          </a:prstGeom>
          <a:noFill/>
          <a:ln/>
        </p:spPr>
        <p:txBody>
          <a:bodyPr wrap="square" lIns="0" tIns="0" rIns="0" bIns="0" rtlCol="0" anchor="t"/>
          <a:lstStyle/>
          <a:p>
            <a:pPr algn="l" indent="0" marL="0">
              <a:lnSpc>
                <a:spcPct val="110000"/>
              </a:lnSpc>
              <a:buNone/>
            </a:pPr>
            <a:r>
              <a:rPr lang="en-US" sz="3600" b="1" dirty="0">
                <a:solidFill>
                  <a:srgbClr val="15161A"/>
                </a:solidFill>
                <a:latin typeface="Inter" pitchFamily="34" charset="0"/>
                <a:ea typeface="Inter" pitchFamily="34" charset="-122"/>
                <a:cs typeface="Inter" pitchFamily="34" charset="-120"/>
              </a:rPr>
              <a:t>List every Ed25519 key that could still move your treasury</a:t>
            </a:r>
            <a:endParaRPr lang="en-US" sz="3600" dirty="0"/>
          </a:p>
        </p:txBody>
      </p:sp>
      <p:sp>
        <p:nvSpPr>
          <p:cNvPr id="5" name="Text 2"/>
          <p:cNvSpPr/>
          <p:nvPr/>
        </p:nvSpPr>
        <p:spPr>
          <a:xfrm>
            <a:off x="609600" y="2896362"/>
            <a:ext cx="5029200" cy="1653540"/>
          </a:xfrm>
          <a:prstGeom prst="rect">
            <a:avLst/>
          </a:prstGeom>
          <a:noFill/>
          <a:ln/>
        </p:spPr>
        <p:txBody>
          <a:bodyPr wrap="square" lIns="0" tIns="0" rIns="0" bIns="0" rtlCol="0" anchor="t"/>
          <a:lstStyle/>
          <a:p>
            <a:pPr algn="l" indent="0" marL="0">
              <a:lnSpc>
                <a:spcPct val="115000"/>
              </a:lnSpc>
              <a:buNone/>
            </a:pPr>
            <a:r>
              <a:rPr lang="en-US" sz="1800" dirty="0">
                <a:solidFill>
                  <a:srgbClr val="15161A"/>
                </a:solidFill>
                <a:latin typeface="Inter" pitchFamily="34" charset="0"/>
                <a:ea typeface="Inter" pitchFamily="34" charset="-122"/>
                <a:cs typeface="Inter" pitchFamily="34" charset="-120"/>
              </a:rPr>
              <a:t>Mint authority, freeze authority, metadata authority, program upgrade authority. Each one is a quantum backdoor. QuantCoin revoked the first three after genesis. The upgrade key goes before mainnet.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3" name="Text 0"/>
          <p:cNvSpPr/>
          <p:nvPr/>
        </p:nvSpPr>
        <p:spPr>
          <a:xfrm>
            <a:off x="1524000" y="2496312"/>
            <a:ext cx="9144000" cy="1283208"/>
          </a:xfrm>
          <a:prstGeom prst="rect">
            <a:avLst/>
          </a:prstGeom>
          <a:noFill/>
          <a:ln/>
        </p:spPr>
        <p:txBody>
          <a:bodyPr wrap="square" lIns="0" tIns="0" rIns="0" bIns="0" rtlCol="0" anchor="t"/>
          <a:lstStyle/>
          <a:p>
            <a:pPr algn="ctr" indent="0" marL="0">
              <a:lnSpc>
                <a:spcPct val="110000"/>
              </a:lnSpc>
              <a:buNone/>
            </a:pPr>
            <a:r>
              <a:rPr lang="en-US" sz="3600" b="1" dirty="0">
                <a:solidFill>
                  <a:srgbClr val="15161A"/>
                </a:solidFill>
                <a:latin typeface="Inter" pitchFamily="34" charset="0"/>
                <a:ea typeface="Inter" pitchFamily="34" charset="-122"/>
                <a:cs typeface="Inter" pitchFamily="34" charset="-120"/>
              </a:rPr>
              <a:t>A token cannot make Solana quantum-safe, but a vault can</a:t>
            </a:r>
            <a:endParaRPr lang="en-US" sz="3600" dirty="0"/>
          </a:p>
        </p:txBody>
      </p:sp>
      <p:sp>
        <p:nvSpPr>
          <p:cNvPr id="4" name="Text 1"/>
          <p:cNvSpPr/>
          <p:nvPr/>
        </p:nvSpPr>
        <p:spPr>
          <a:xfrm>
            <a:off x="1524000" y="3874770"/>
            <a:ext cx="9144000" cy="391668"/>
          </a:xfrm>
          <a:prstGeom prst="rect">
            <a:avLst/>
          </a:prstGeom>
          <a:noFill/>
          <a:ln/>
        </p:spPr>
        <p:txBody>
          <a:bodyPr wrap="square" lIns="0" tIns="0" rIns="0" bIns="0" rtlCol="0" anchor="t"/>
          <a:lstStyle/>
          <a:p>
            <a:pPr algn="ctr" indent="0" marL="0">
              <a:lnSpc>
                <a:spcPct val="115000"/>
              </a:lnSpc>
              <a:buNone/>
            </a:pPr>
            <a:r>
              <a:rPr lang="en-US" sz="1800" dirty="0">
                <a:solidFill>
                  <a:srgbClr val="6B6E76"/>
                </a:solidFill>
                <a:latin typeface="Inter" pitchFamily="34" charset="0"/>
                <a:ea typeface="Inter" pitchFamily="34" charset="-122"/>
                <a:cs typeface="Inter" pitchFamily="34" charset="-120"/>
              </a:rPr>
              <a:t>Code, whitepaper and audit: github.com/bryankwandou/QUANTCOIN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QuantCoin talk</dc:title>
  <dc:subject>PptxGenJS Presentation</dc:subject>
  <dc:creator>PptxGenJS</dc:creator>
  <cp:lastModifiedBy>PptxGenJS</cp:lastModifiedBy>
  <cp:revision>1</cp:revision>
  <dcterms:created xsi:type="dcterms:W3CDTF">2026-09-25T15:40:45Z</dcterms:created>
  <dcterms:modified xsi:type="dcterms:W3CDTF">2026-09-25T15:40:45Z</dcterms:modified>
</cp:coreProperties>
</file>